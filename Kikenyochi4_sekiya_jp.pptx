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8" r:id="rId3"/>
    <p:sldId id="262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63889" autoAdjust="0"/>
  </p:normalViewPr>
  <p:slideViewPr>
    <p:cSldViewPr snapToGrid="0">
      <p:cViewPr varScale="1">
        <p:scale>
          <a:sx n="49" d="100"/>
          <a:sy n="49" d="100"/>
        </p:scale>
        <p:origin x="588" y="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B6C939-15B5-4250-9384-E3CBD72FE5B4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50EA8-B921-4151-B3E7-D56017A4109A}">
      <dgm:prSet/>
      <dgm:spPr/>
      <dgm:t>
        <a:bodyPr/>
        <a:lstStyle/>
        <a:p>
          <a:r>
            <a:rPr lang="ja-JP" dirty="0"/>
            <a:t>高齢化</a:t>
          </a:r>
          <a:endParaRPr lang="en-US" dirty="0"/>
        </a:p>
      </dgm:t>
    </dgm:pt>
    <dgm:pt modelId="{05A7DFF0-1927-4176-9E23-727C76F12061}" type="parTrans" cxnId="{E9FDED5A-7AEA-4FD2-96EF-25983D2DFCAF}">
      <dgm:prSet/>
      <dgm:spPr/>
      <dgm:t>
        <a:bodyPr/>
        <a:lstStyle/>
        <a:p>
          <a:endParaRPr lang="en-US"/>
        </a:p>
      </dgm:t>
    </dgm:pt>
    <dgm:pt modelId="{0B7485C9-40C0-4299-8E27-B66FC5137A97}" type="sibTrans" cxnId="{E9FDED5A-7AEA-4FD2-96EF-25983D2DFCAF}">
      <dgm:prSet/>
      <dgm:spPr/>
      <dgm:t>
        <a:bodyPr/>
        <a:lstStyle/>
        <a:p>
          <a:endParaRPr lang="en-US"/>
        </a:p>
      </dgm:t>
    </dgm:pt>
    <dgm:pt modelId="{4FA85976-ECF8-4537-91E2-ABA32EA93FD1}">
      <dgm:prSet/>
      <dgm:spPr/>
      <dgm:t>
        <a:bodyPr/>
        <a:lstStyle/>
        <a:p>
          <a:r>
            <a:rPr lang="ja-JP" dirty="0"/>
            <a:t>急な</a:t>
          </a:r>
          <a:br>
            <a:rPr lang="en-US" altLang="ja-JP" dirty="0"/>
          </a:br>
          <a:r>
            <a:rPr lang="ja-JP" dirty="0"/>
            <a:t>気象変化</a:t>
          </a:r>
          <a:endParaRPr lang="en-US" dirty="0"/>
        </a:p>
      </dgm:t>
    </dgm:pt>
    <dgm:pt modelId="{9DBBD867-3458-4E20-84CA-33C76C19BA2D}" type="parTrans" cxnId="{7433F941-1BA4-42C4-85DF-F1AC6E4290EE}">
      <dgm:prSet/>
      <dgm:spPr/>
      <dgm:t>
        <a:bodyPr/>
        <a:lstStyle/>
        <a:p>
          <a:endParaRPr lang="en-US"/>
        </a:p>
      </dgm:t>
    </dgm:pt>
    <dgm:pt modelId="{7E31A9BC-6141-472B-A792-2104EF1C06A7}" type="sibTrans" cxnId="{7433F941-1BA4-42C4-85DF-F1AC6E4290EE}">
      <dgm:prSet/>
      <dgm:spPr/>
      <dgm:t>
        <a:bodyPr/>
        <a:lstStyle/>
        <a:p>
          <a:endParaRPr lang="en-US"/>
        </a:p>
      </dgm:t>
    </dgm:pt>
    <dgm:pt modelId="{C5FD495D-D99D-4BAE-A820-884C2DE5F368}">
      <dgm:prSet/>
      <dgm:spPr/>
      <dgm:t>
        <a:bodyPr/>
        <a:lstStyle/>
        <a:p>
          <a:r>
            <a:rPr lang="ja-JP" altLang="en-US" dirty="0"/>
            <a:t>交通死亡事故</a:t>
          </a:r>
          <a:endParaRPr lang="en-US" dirty="0"/>
        </a:p>
      </dgm:t>
    </dgm:pt>
    <dgm:pt modelId="{78A8BFB1-952D-4E39-B08A-881795C9A913}" type="parTrans" cxnId="{1A352DF5-85F0-4FE6-9031-9202655D8AF0}">
      <dgm:prSet/>
      <dgm:spPr/>
      <dgm:t>
        <a:bodyPr/>
        <a:lstStyle/>
        <a:p>
          <a:endParaRPr lang="en-US"/>
        </a:p>
      </dgm:t>
    </dgm:pt>
    <dgm:pt modelId="{808B5F0D-13C2-495A-94E8-93237D6C4F51}" type="sibTrans" cxnId="{1A352DF5-85F0-4FE6-9031-9202655D8AF0}">
      <dgm:prSet/>
      <dgm:spPr/>
      <dgm:t>
        <a:bodyPr/>
        <a:lstStyle/>
        <a:p>
          <a:endParaRPr lang="en-US"/>
        </a:p>
      </dgm:t>
    </dgm:pt>
    <dgm:pt modelId="{CF0ABC90-54C9-43E1-9093-4EA6B3913E78}">
      <dgm:prSet/>
      <dgm:spPr/>
      <dgm:t>
        <a:bodyPr/>
        <a:lstStyle/>
        <a:p>
          <a:r>
            <a:rPr lang="ja-JP" altLang="en-US" dirty="0"/>
            <a:t>認知症</a:t>
          </a:r>
          <a:endParaRPr lang="en-US" dirty="0"/>
        </a:p>
      </dgm:t>
    </dgm:pt>
    <dgm:pt modelId="{75DCDBEA-C7B0-49AA-B1F6-FF27D900A41C}" type="parTrans" cxnId="{3FF48F0F-19B3-46BA-9DE7-4C66E8610B6C}">
      <dgm:prSet/>
      <dgm:spPr/>
      <dgm:t>
        <a:bodyPr/>
        <a:lstStyle/>
        <a:p>
          <a:endParaRPr lang="en-US"/>
        </a:p>
      </dgm:t>
    </dgm:pt>
    <dgm:pt modelId="{9305042F-2291-4A76-9C77-901B89E487E1}" type="sibTrans" cxnId="{3FF48F0F-19B3-46BA-9DE7-4C66E8610B6C}">
      <dgm:prSet/>
      <dgm:spPr/>
      <dgm:t>
        <a:bodyPr/>
        <a:lstStyle/>
        <a:p>
          <a:endParaRPr lang="en-US"/>
        </a:p>
      </dgm:t>
    </dgm:pt>
    <dgm:pt modelId="{F9E98A38-ABAD-458A-9464-0FCCA2A409CD}">
      <dgm:prSet/>
      <dgm:spPr/>
      <dgm:t>
        <a:bodyPr/>
        <a:lstStyle/>
        <a:p>
          <a:r>
            <a:rPr lang="ja-JP" altLang="en-US" dirty="0"/>
            <a:t>ゲリラ豪雨</a:t>
          </a:r>
          <a:endParaRPr lang="en-US" dirty="0"/>
        </a:p>
      </dgm:t>
    </dgm:pt>
    <dgm:pt modelId="{D4A56D89-B106-42AD-938E-0C1E0A473275}" type="parTrans" cxnId="{D0B75535-45C5-43A9-BE42-41C0E2B99F6F}">
      <dgm:prSet/>
      <dgm:spPr/>
      <dgm:t>
        <a:bodyPr/>
        <a:lstStyle/>
        <a:p>
          <a:endParaRPr lang="en-US"/>
        </a:p>
      </dgm:t>
    </dgm:pt>
    <dgm:pt modelId="{174BB12F-CA94-445F-8585-A9509926D4BD}" type="sibTrans" cxnId="{D0B75535-45C5-43A9-BE42-41C0E2B99F6F}">
      <dgm:prSet/>
      <dgm:spPr/>
      <dgm:t>
        <a:bodyPr/>
        <a:lstStyle/>
        <a:p>
          <a:endParaRPr lang="en-US"/>
        </a:p>
      </dgm:t>
    </dgm:pt>
    <dgm:pt modelId="{8D971ECF-24EB-4082-9A60-2E5AAB2A94FB}" type="pres">
      <dgm:prSet presAssocID="{57B6C939-15B5-4250-9384-E3CBD72FE5B4}" presName="Name0" presStyleCnt="0">
        <dgm:presLayoutVars>
          <dgm:dir/>
          <dgm:resizeHandles val="exact"/>
        </dgm:presLayoutVars>
      </dgm:prSet>
      <dgm:spPr/>
    </dgm:pt>
    <dgm:pt modelId="{47DE5FF7-E85D-433A-B725-10BBA1A185FE}" type="pres">
      <dgm:prSet presAssocID="{36550EA8-B921-4151-B3E7-D56017A4109A}" presName="node" presStyleLbl="node1" presStyleIdx="0" presStyleCnt="2">
        <dgm:presLayoutVars>
          <dgm:bulletEnabled val="1"/>
        </dgm:presLayoutVars>
      </dgm:prSet>
      <dgm:spPr/>
    </dgm:pt>
    <dgm:pt modelId="{56870076-E0A7-488D-BEBF-946D665DFAF3}" type="pres">
      <dgm:prSet presAssocID="{0B7485C9-40C0-4299-8E27-B66FC5137A97}" presName="sibTrans" presStyleCnt="0"/>
      <dgm:spPr/>
    </dgm:pt>
    <dgm:pt modelId="{7B8EE6A4-7C36-4DA2-AA1F-1C498898621B}" type="pres">
      <dgm:prSet presAssocID="{4FA85976-ECF8-4537-91E2-ABA32EA93FD1}" presName="node" presStyleLbl="node1" presStyleIdx="1" presStyleCnt="2">
        <dgm:presLayoutVars>
          <dgm:bulletEnabled val="1"/>
        </dgm:presLayoutVars>
      </dgm:prSet>
      <dgm:spPr/>
    </dgm:pt>
  </dgm:ptLst>
  <dgm:cxnLst>
    <dgm:cxn modelId="{3FF48F0F-19B3-46BA-9DE7-4C66E8610B6C}" srcId="{36550EA8-B921-4151-B3E7-D56017A4109A}" destId="{CF0ABC90-54C9-43E1-9093-4EA6B3913E78}" srcOrd="1" destOrd="0" parTransId="{75DCDBEA-C7B0-49AA-B1F6-FF27D900A41C}" sibTransId="{9305042F-2291-4A76-9C77-901B89E487E1}"/>
    <dgm:cxn modelId="{D0B75535-45C5-43A9-BE42-41C0E2B99F6F}" srcId="{4FA85976-ECF8-4537-91E2-ABA32EA93FD1}" destId="{F9E98A38-ABAD-458A-9464-0FCCA2A409CD}" srcOrd="0" destOrd="0" parTransId="{D4A56D89-B106-42AD-938E-0C1E0A473275}" sibTransId="{174BB12F-CA94-445F-8585-A9509926D4BD}"/>
    <dgm:cxn modelId="{7433F941-1BA4-42C4-85DF-F1AC6E4290EE}" srcId="{57B6C939-15B5-4250-9384-E3CBD72FE5B4}" destId="{4FA85976-ECF8-4537-91E2-ABA32EA93FD1}" srcOrd="1" destOrd="0" parTransId="{9DBBD867-3458-4E20-84CA-33C76C19BA2D}" sibTransId="{7E31A9BC-6141-472B-A792-2104EF1C06A7}"/>
    <dgm:cxn modelId="{B25AE86C-86ED-4DC0-9819-464C4DF757AE}" type="presOf" srcId="{4FA85976-ECF8-4537-91E2-ABA32EA93FD1}" destId="{7B8EE6A4-7C36-4DA2-AA1F-1C498898621B}" srcOrd="0" destOrd="0" presId="urn:microsoft.com/office/officeart/2005/8/layout/hList6"/>
    <dgm:cxn modelId="{ECC6FE56-DFE2-4F6B-8371-7A268DF6DD31}" type="presOf" srcId="{57B6C939-15B5-4250-9384-E3CBD72FE5B4}" destId="{8D971ECF-24EB-4082-9A60-2E5AAB2A94FB}" srcOrd="0" destOrd="0" presId="urn:microsoft.com/office/officeart/2005/8/layout/hList6"/>
    <dgm:cxn modelId="{E9FDED5A-7AEA-4FD2-96EF-25983D2DFCAF}" srcId="{57B6C939-15B5-4250-9384-E3CBD72FE5B4}" destId="{36550EA8-B921-4151-B3E7-D56017A4109A}" srcOrd="0" destOrd="0" parTransId="{05A7DFF0-1927-4176-9E23-727C76F12061}" sibTransId="{0B7485C9-40C0-4299-8E27-B66FC5137A97}"/>
    <dgm:cxn modelId="{89456785-7851-4C6E-BBF5-0386ED232EE9}" type="presOf" srcId="{C5FD495D-D99D-4BAE-A820-884C2DE5F368}" destId="{47DE5FF7-E85D-433A-B725-10BBA1A185FE}" srcOrd="0" destOrd="1" presId="urn:microsoft.com/office/officeart/2005/8/layout/hList6"/>
    <dgm:cxn modelId="{A0810194-5369-4468-B974-962A4F712F7E}" type="presOf" srcId="{36550EA8-B921-4151-B3E7-D56017A4109A}" destId="{47DE5FF7-E85D-433A-B725-10BBA1A185FE}" srcOrd="0" destOrd="0" presId="urn:microsoft.com/office/officeart/2005/8/layout/hList6"/>
    <dgm:cxn modelId="{35BC40DC-4E22-44F4-B811-3523B4FEA838}" type="presOf" srcId="{CF0ABC90-54C9-43E1-9093-4EA6B3913E78}" destId="{47DE5FF7-E85D-433A-B725-10BBA1A185FE}" srcOrd="0" destOrd="2" presId="urn:microsoft.com/office/officeart/2005/8/layout/hList6"/>
    <dgm:cxn modelId="{4B7D79E1-33F0-45B7-99C0-069250ACC208}" type="presOf" srcId="{F9E98A38-ABAD-458A-9464-0FCCA2A409CD}" destId="{7B8EE6A4-7C36-4DA2-AA1F-1C498898621B}" srcOrd="0" destOrd="1" presId="urn:microsoft.com/office/officeart/2005/8/layout/hList6"/>
    <dgm:cxn modelId="{1A352DF5-85F0-4FE6-9031-9202655D8AF0}" srcId="{36550EA8-B921-4151-B3E7-D56017A4109A}" destId="{C5FD495D-D99D-4BAE-A820-884C2DE5F368}" srcOrd="0" destOrd="0" parTransId="{78A8BFB1-952D-4E39-B08A-881795C9A913}" sibTransId="{808B5F0D-13C2-495A-94E8-93237D6C4F51}"/>
    <dgm:cxn modelId="{BD5D9909-ADF1-4B9F-AF43-3C88EDEBFC32}" type="presParOf" srcId="{8D971ECF-24EB-4082-9A60-2E5AAB2A94FB}" destId="{47DE5FF7-E85D-433A-B725-10BBA1A185FE}" srcOrd="0" destOrd="0" presId="urn:microsoft.com/office/officeart/2005/8/layout/hList6"/>
    <dgm:cxn modelId="{C94D49DF-9F39-4B24-9A07-1E55CEEFDA63}" type="presParOf" srcId="{8D971ECF-24EB-4082-9A60-2E5AAB2A94FB}" destId="{56870076-E0A7-488D-BEBF-946D665DFAF3}" srcOrd="1" destOrd="0" presId="urn:microsoft.com/office/officeart/2005/8/layout/hList6"/>
    <dgm:cxn modelId="{4C558A6E-CE64-4DE3-9464-AB87D391FE30}" type="presParOf" srcId="{8D971ECF-24EB-4082-9A60-2E5AAB2A94FB}" destId="{7B8EE6A4-7C36-4DA2-AA1F-1C498898621B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DE5FF7-E85D-433A-B725-10BBA1A185FE}">
      <dsp:nvSpPr>
        <dsp:cNvPr id="0" name=""/>
        <dsp:cNvSpPr/>
      </dsp:nvSpPr>
      <dsp:spPr>
        <a:xfrm rot="16200000">
          <a:off x="821446" y="-815926"/>
          <a:ext cx="3678303" cy="531015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0" tIns="0" rIns="292757" bIns="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4600" kern="1200" dirty="0"/>
            <a:t>高齢化</a:t>
          </a:r>
          <a:endParaRPr lang="en-US" sz="4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3600" kern="1200" dirty="0"/>
            <a:t>交通死亡事故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3600" kern="1200" dirty="0"/>
            <a:t>認知症</a:t>
          </a:r>
          <a:endParaRPr lang="en-US" sz="3600" kern="1200" dirty="0"/>
        </a:p>
      </dsp:txBody>
      <dsp:txXfrm rot="5400000">
        <a:off x="5520" y="735661"/>
        <a:ext cx="5310156" cy="2206981"/>
      </dsp:txXfrm>
    </dsp:sp>
    <dsp:sp modelId="{7B8EE6A4-7C36-4DA2-AA1F-1C498898621B}">
      <dsp:nvSpPr>
        <dsp:cNvPr id="0" name=""/>
        <dsp:cNvSpPr/>
      </dsp:nvSpPr>
      <dsp:spPr>
        <a:xfrm rot="16200000">
          <a:off x="6529865" y="-815926"/>
          <a:ext cx="3678303" cy="531015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0" tIns="0" rIns="292757" bIns="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4600" kern="1200" dirty="0"/>
            <a:t>急な</a:t>
          </a:r>
          <a:br>
            <a:rPr lang="en-US" altLang="ja-JP" sz="4600" kern="1200" dirty="0"/>
          </a:br>
          <a:r>
            <a:rPr lang="ja-JP" sz="4600" kern="1200" dirty="0"/>
            <a:t>気象変化</a:t>
          </a:r>
          <a:endParaRPr lang="en-US" sz="4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3600" kern="1200" dirty="0"/>
            <a:t>ゲリラ豪雨</a:t>
          </a:r>
          <a:endParaRPr lang="en-US" sz="3600" kern="1200" dirty="0"/>
        </a:p>
      </dsp:txBody>
      <dsp:txXfrm rot="5400000">
        <a:off x="5713939" y="735661"/>
        <a:ext cx="5310156" cy="22069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58DA4-9A6A-495D-84AF-AD2673B2F06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C1983-4C8A-4540-94CA-332053E2A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92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p.weathernews.com/news/53730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npa.go.jp/publications/statistics/safetylife/R6_yukuefumeishakouhoushiryou2.pdf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C1983-4C8A-4540-94CA-332053E2A9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0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日本の社会的課題の中で、２つを考えてみました。１つ目は、高齢化です。</a:t>
            </a:r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n-US" dirty="0"/>
              <a:t>交通死亡事故の約半分が高齢者です。横断歩道以外を歩行する割合が多く、夜間に、車との距離が正しく認識できていない</a:t>
            </a:r>
            <a:r>
              <a:rPr lang="en-US" altLang="ja-JP" dirty="0"/>
              <a:t>1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）ことが原因として挙げられています。</a:t>
            </a:r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また、高齢と関連のある認知症ですが、全体の行方不明者の約</a:t>
            </a:r>
            <a:r>
              <a:rPr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％程度です。</a:t>
            </a:r>
            <a:r>
              <a:rPr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２つ目は、急な気象変化です。ゲリラ豪雨が増加しており、昨年比で</a:t>
            </a:r>
            <a:r>
              <a:rPr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1.1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倍に増えています。　</a:t>
            </a:r>
            <a:r>
              <a:rPr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）４）</a:t>
            </a:r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こういった情報をキャッチできれば、課題に伴う危険予知につながらないかと考えました</a:t>
            </a:r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arenR"/>
            </a:pPr>
            <a:r>
              <a:rPr lang="en-US" altLang="ja-JP" u="none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https://www.tokio-dr.jp/publication/column/140.html</a:t>
            </a:r>
          </a:p>
          <a:p>
            <a:pPr marL="228600" indent="-228600">
              <a:buAutoNum type="arabicParenR"/>
            </a:pPr>
            <a:r>
              <a:rPr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https://www.npa.go.jp/publications/statistics/safetylife/R6_yukuefumeishakouhoushiryou2.pdf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u="none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https://jp.weathernews.com/news/53730/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u="none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https://tenki.jp/forecaster/deskpart/2025/09/11/35673.html</a:t>
            </a:r>
          </a:p>
          <a:p>
            <a:pPr marL="228600" indent="-228600">
              <a:buAutoNum type="arabicParenR"/>
            </a:pPr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C1983-4C8A-4540-94CA-332053E2A9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01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システムは、</a:t>
            </a:r>
            <a:r>
              <a:rPr lang="en-US" altLang="ja-JP" dirty="0" err="1"/>
              <a:t>micro:bit</a:t>
            </a:r>
            <a:r>
              <a:rPr lang="en-US" altLang="ja-JP" dirty="0"/>
              <a:t>, GPS, </a:t>
            </a:r>
            <a:r>
              <a:rPr lang="ja-JP" altLang="en-US" dirty="0"/>
              <a:t>超音波距離センサー、</a:t>
            </a:r>
            <a:r>
              <a:rPr lang="en-US" altLang="ja-JP" dirty="0"/>
              <a:t>OLED</a:t>
            </a:r>
            <a:r>
              <a:rPr lang="ja-JP" altLang="en-US" dirty="0"/>
              <a:t>、温湿度・気圧センサー、およびサブ基板（</a:t>
            </a:r>
            <a:r>
              <a:rPr lang="en-US" altLang="ja-JP" dirty="0" err="1"/>
              <a:t>Seeed</a:t>
            </a:r>
            <a:r>
              <a:rPr lang="en-US" altLang="ja-JP" dirty="0"/>
              <a:t> Studio Xiao</a:t>
            </a:r>
            <a:r>
              <a:rPr lang="ja-JP" altLang="en-US" dirty="0"/>
              <a:t>）で構成しています。</a:t>
            </a:r>
            <a:endParaRPr lang="en-US" altLang="ja-JP" dirty="0"/>
          </a:p>
          <a:p>
            <a:r>
              <a:rPr lang="en-US" dirty="0" err="1"/>
              <a:t>micro:bit</a:t>
            </a:r>
            <a:r>
              <a:rPr lang="ja-JP" altLang="en-US" dirty="0"/>
              <a:t>に</a:t>
            </a:r>
            <a:r>
              <a:rPr lang="en-US" altLang="ja-JP" dirty="0" err="1"/>
              <a:t>uT</a:t>
            </a:r>
            <a:r>
              <a:rPr lang="en-US" altLang="ja-JP" dirty="0"/>
              <a:t>-Kernel</a:t>
            </a:r>
            <a:r>
              <a:rPr lang="ja-JP" altLang="en-US" dirty="0"/>
              <a:t>が動いており、その上に複数のタスクを起動しており、超音波タスク、温湿度気圧タスク、サブ基板（</a:t>
            </a:r>
            <a:r>
              <a:rPr lang="en-US" altLang="ja-JP" dirty="0"/>
              <a:t>Xiao</a:t>
            </a:r>
            <a:r>
              <a:rPr lang="ja-JP" altLang="en-US" dirty="0"/>
              <a:t>）と通信するシリアル通信タスクから構成されています。障害物との距離測定が最も重要と考え、短時間に動きが大きいと考え、他のタスクよりも優先順位を高くしており、距離計測中は割込みも禁止しました。</a:t>
            </a:r>
            <a:endParaRPr lang="en-US" altLang="ja-JP" dirty="0"/>
          </a:p>
          <a:p>
            <a:r>
              <a:rPr lang="ja-JP" altLang="en-US" dirty="0"/>
              <a:t>また、</a:t>
            </a:r>
            <a:r>
              <a:rPr lang="en-US" altLang="ja-JP" dirty="0"/>
              <a:t>Xiao</a:t>
            </a:r>
            <a:r>
              <a:rPr lang="ja-JP" altLang="en-US" dirty="0"/>
              <a:t>では、</a:t>
            </a:r>
            <a:r>
              <a:rPr lang="en-US" altLang="ja-JP" dirty="0"/>
              <a:t>GPS</a:t>
            </a:r>
            <a:r>
              <a:rPr lang="ja-JP" altLang="en-US" dirty="0"/>
              <a:t>情報から生成</a:t>
            </a:r>
            <a:r>
              <a:rPr lang="en-US" altLang="ja-JP" dirty="0"/>
              <a:t>AI</a:t>
            </a:r>
            <a:r>
              <a:rPr lang="ja-JP" altLang="en-US" dirty="0"/>
              <a:t>の予測結果を</a:t>
            </a:r>
            <a:r>
              <a:rPr lang="en-US" altLang="ja-JP" dirty="0" err="1"/>
              <a:t>micro:bit</a:t>
            </a:r>
            <a:r>
              <a:rPr lang="ja-JP" altLang="en-US" dirty="0"/>
              <a:t>に返信し、結果を</a:t>
            </a:r>
            <a:r>
              <a:rPr lang="en-US" altLang="ja-JP" dirty="0"/>
              <a:t>OLED</a:t>
            </a:r>
            <a:r>
              <a:rPr lang="ja-JP" altLang="en-US" dirty="0"/>
              <a:t>に表示します。</a:t>
            </a:r>
            <a:endParaRPr lang="en-US" altLang="ja-JP" dirty="0"/>
          </a:p>
          <a:p>
            <a:r>
              <a:rPr lang="ja-JP" altLang="en-US" dirty="0"/>
              <a:t>これが実際の画面ですが、</a:t>
            </a:r>
            <a:r>
              <a:rPr lang="en-US" altLang="ja-JP" dirty="0"/>
              <a:t>1</a:t>
            </a:r>
            <a:r>
              <a:rPr lang="ja-JP" altLang="en-US" dirty="0"/>
              <a:t>行目に温度、気圧、湿度を表示、</a:t>
            </a:r>
            <a:r>
              <a:rPr lang="en-US" altLang="ja-JP" dirty="0"/>
              <a:t>2</a:t>
            </a:r>
            <a:r>
              <a:rPr lang="ja-JP" altLang="en-US" dirty="0"/>
              <a:t>行目に障害物との距離を表示します。気象の変化を計測した場合には、</a:t>
            </a:r>
            <a:r>
              <a:rPr lang="en-US" altLang="ja-JP" dirty="0"/>
              <a:t>1</a:t>
            </a:r>
            <a:r>
              <a:rPr lang="ja-JP" altLang="en-US" dirty="0"/>
              <a:t>行目に文言を表示します。現在地表示する場合には、</a:t>
            </a:r>
            <a:r>
              <a:rPr lang="en-US" altLang="ja-JP" dirty="0"/>
              <a:t>1</a:t>
            </a:r>
            <a:r>
              <a:rPr lang="ja-JP" altLang="en-US" dirty="0"/>
              <a:t>行目にその地名の予測結果を表示します。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Note:</a:t>
            </a:r>
          </a:p>
          <a:p>
            <a:r>
              <a:rPr lang="ja-JP" altLang="en-US" dirty="0"/>
              <a:t>他にできるとすれば、異常気象の精度を上げるために、</a:t>
            </a:r>
            <a:r>
              <a:rPr lang="en-US" altLang="ja-JP" dirty="0"/>
              <a:t>GPS</a:t>
            </a:r>
            <a:r>
              <a:rPr lang="ja-JP" altLang="en-US" dirty="0"/>
              <a:t>情報と生成</a:t>
            </a:r>
            <a:r>
              <a:rPr lang="en-US" altLang="ja-JP" dirty="0"/>
              <a:t>AI</a:t>
            </a:r>
            <a:r>
              <a:rPr lang="ja-JP" altLang="en-US" dirty="0"/>
              <a:t>を組み合わせることや、現在地の精度を上げるために、</a:t>
            </a:r>
            <a:r>
              <a:rPr lang="en-US" altLang="ja-JP" dirty="0"/>
              <a:t>GPS</a:t>
            </a:r>
            <a:r>
              <a:rPr lang="ja-JP" altLang="en-US" dirty="0"/>
              <a:t>を逆ジオコーディングして、生成</a:t>
            </a:r>
            <a:r>
              <a:rPr lang="en-US" altLang="ja-JP" dirty="0"/>
              <a:t>AI</a:t>
            </a:r>
            <a:r>
              <a:rPr lang="ja-JP" altLang="en-US" dirty="0"/>
              <a:t>は別の用途で使用することなどが考えらます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C1983-4C8A-4540-94CA-332053E2A9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40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C1983-4C8A-4540-94CA-332053E2A9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36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278375"/>
            <a:ext cx="10993549" cy="748734"/>
          </a:xfrm>
          <a:effectLst/>
        </p:spPr>
        <p:txBody>
          <a:bodyPr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6417" y="4635212"/>
            <a:ext cx="4476356" cy="83594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C993062-C56C-40EF-A046-A1A27A8971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29B5A9-28F4-4619-A87C-0AFD531B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40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1331" y="991198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237" y="1078947"/>
            <a:ext cx="11029616" cy="1013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3062-C56C-40EF-A046-A1A27A8971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6129B5A9-28F4-4619-A87C-0AFD531B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0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C993062-C56C-40EF-A046-A1A27A8971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29B5A9-28F4-4619-A87C-0AFD531B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0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964362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1087466"/>
            <a:ext cx="11029616" cy="98833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3062-C56C-40EF-A046-A1A27A8971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9B5A9-28F4-4619-A87C-0AFD531B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46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3062-C56C-40EF-A046-A1A27A8971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9B5A9-28F4-4619-A87C-0AFD531B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90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1023992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1147096"/>
            <a:ext cx="11029616" cy="98833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3062-C56C-40EF-A046-A1A27A8971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9B5A9-28F4-4619-A87C-0AFD531B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4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3062-C56C-40EF-A046-A1A27A8971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9B5A9-28F4-4619-A87C-0AFD531B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9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C993062-C56C-40EF-A046-A1A27A8971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29B5A9-28F4-4619-A87C-0AFD531B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20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3062-C56C-40EF-A046-A1A27A8971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9B5A9-28F4-4619-A87C-0AFD531B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7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3062-C56C-40EF-A046-A1A27A8971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9B5A9-28F4-4619-A87C-0AFD531B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6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C993062-C56C-40EF-A046-A1A27A8971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29B5A9-28F4-4619-A87C-0AFD531B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866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1013235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C993062-C56C-40EF-A046-A1A27A8971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129B5A9-28F4-4619-A87C-0AFD531B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99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67264-A77F-8296-8EEB-57A210B413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危険予知を支援するシステム</a:t>
            </a:r>
            <a:endParaRPr 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5C8D9C8-C236-5055-2A45-C2ADF2A51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8384" y="5297063"/>
            <a:ext cx="4476356" cy="835945"/>
          </a:xfrm>
        </p:spPr>
        <p:txBody>
          <a:bodyPr>
            <a:normAutofit/>
          </a:bodyPr>
          <a:lstStyle/>
          <a:p>
            <a:pPr algn="r"/>
            <a:r>
              <a:rPr lang="ja-JP" altLang="en-US" sz="2400" dirty="0">
                <a:solidFill>
                  <a:schemeClr val="bg1"/>
                </a:solidFill>
              </a:rPr>
              <a:t>関谷</a:t>
            </a:r>
            <a:r>
              <a:rPr lang="ja-JP" altLang="en-US" sz="2400" baseline="0" dirty="0">
                <a:solidFill>
                  <a:schemeClr val="bg1"/>
                </a:solidFill>
              </a:rPr>
              <a:t> </a:t>
            </a:r>
            <a:r>
              <a:rPr lang="ja-JP" altLang="en-US" sz="2400" dirty="0">
                <a:solidFill>
                  <a:schemeClr val="bg1"/>
                </a:solidFill>
              </a:rPr>
              <a:t>武一郎</a:t>
            </a:r>
            <a:endParaRPr lang="en-US" altLang="ja-JP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046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941BF7-1CEF-61D8-8AF1-A7CE684A2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endParaRPr lang="en-US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855E8368-0A02-3275-023B-C31F4036F6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9928869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24461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866A73-E224-48EB-9A49-1903B2D78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システム</a:t>
            </a:r>
            <a:endParaRPr lang="en-US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F9EADBFD-A2FB-1D86-1A15-DDF496D7A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8" y="2277248"/>
            <a:ext cx="8115300" cy="4293847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4ABCF04D-F2CE-92D1-56C7-87A1561A3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468894">
            <a:off x="9911762" y="2905045"/>
            <a:ext cx="1110242" cy="2326502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9D4105ED-AE98-7776-1902-EC0B0E46B7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015147">
            <a:off x="9855900" y="4643012"/>
            <a:ext cx="1146226" cy="227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7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414860-AD4E-A928-8404-8E796B21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最後に</a:t>
            </a:r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5F2AB4-874B-6285-FA04-5D44D3884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ご清聴ありがとうございました</a:t>
            </a:r>
            <a:endParaRPr lang="en-US" altLang="ja-JP" dirty="0"/>
          </a:p>
          <a:p>
            <a:r>
              <a:rPr lang="ja-JP" altLang="en-US" dirty="0"/>
              <a:t>この場をお借りして、御礼を申し上げます（敬称略）</a:t>
            </a:r>
            <a:endParaRPr lang="en-US" altLang="ja-JP" dirty="0"/>
          </a:p>
          <a:p>
            <a:pPr lvl="1"/>
            <a:r>
              <a:rPr lang="en-US" altLang="ja-JP" dirty="0"/>
              <a:t>TRON</a:t>
            </a:r>
            <a:r>
              <a:rPr lang="ja-JP" altLang="en-US" dirty="0"/>
              <a:t>プログラミングコンテスト</a:t>
            </a:r>
            <a:r>
              <a:rPr lang="en-US" altLang="ja-JP" dirty="0"/>
              <a:t>2025</a:t>
            </a:r>
          </a:p>
          <a:p>
            <a:pPr lvl="1"/>
            <a:r>
              <a:rPr lang="ja-JP" altLang="en-US" dirty="0"/>
              <a:t>パーソナルメディア、</a:t>
            </a:r>
            <a:r>
              <a:rPr lang="en-US" altLang="ja-JP" dirty="0"/>
              <a:t>T-Engine </a:t>
            </a:r>
            <a:r>
              <a:rPr lang="ja-JP" altLang="en-US" dirty="0"/>
              <a:t>サポートセンター</a:t>
            </a:r>
            <a:endParaRPr lang="en-US" altLang="ja-JP" dirty="0"/>
          </a:p>
          <a:p>
            <a:pPr lvl="1"/>
            <a:r>
              <a:rPr lang="ja-JP" altLang="en-US" dirty="0"/>
              <a:t>星条旗新聞社（</a:t>
            </a:r>
            <a:r>
              <a:rPr lang="en-US" altLang="ja-JP" dirty="0"/>
              <a:t>Stars and Stripes, Pacific</a:t>
            </a:r>
            <a:r>
              <a:rPr lang="ja-JP" altLang="en-US" dirty="0"/>
              <a:t>）</a:t>
            </a:r>
            <a:endParaRPr lang="en-US" altLang="ja-JP" dirty="0"/>
          </a:p>
          <a:p>
            <a:pPr lvl="1"/>
            <a:r>
              <a:rPr lang="ja-JP" altLang="en-US" dirty="0"/>
              <a:t>株式会社</a:t>
            </a:r>
            <a:r>
              <a:rPr lang="en-US" altLang="ja-JP" dirty="0"/>
              <a:t>CYBO</a:t>
            </a:r>
          </a:p>
          <a:p>
            <a:pPr lvl="1"/>
            <a:r>
              <a:rPr lang="ja-JP" altLang="en-US" dirty="0"/>
              <a:t>関谷由紀房、関谷美保、満田あさみ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70736049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緑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3579</TotalTime>
  <Words>528</Words>
  <Application>Microsoft Office PowerPoint</Application>
  <PresentationFormat>ワイド画面</PresentationFormat>
  <Paragraphs>43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Aptos</vt:lpstr>
      <vt:lpstr>Gill Sans MT</vt:lpstr>
      <vt:lpstr>Wingdings 2</vt:lpstr>
      <vt:lpstr>配当</vt:lpstr>
      <vt:lpstr>危険予知を支援するシステム</vt:lpstr>
      <vt:lpstr>課題</vt:lpstr>
      <vt:lpstr>システム</vt:lpstr>
      <vt:lpstr>最後に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武一郎 関谷</dc:creator>
  <cp:lastModifiedBy>武一郎 関谷</cp:lastModifiedBy>
  <cp:revision>32</cp:revision>
  <dcterms:created xsi:type="dcterms:W3CDTF">2025-11-19T12:23:32Z</dcterms:created>
  <dcterms:modified xsi:type="dcterms:W3CDTF">2025-12-17T14:56:28Z</dcterms:modified>
</cp:coreProperties>
</file>